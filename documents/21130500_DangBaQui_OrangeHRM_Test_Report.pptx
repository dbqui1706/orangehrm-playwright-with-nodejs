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BÁO CÁO KIỂM THỬ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7B00"/>
                </a:solidFill>
              </a:defRPr>
            </a:pPr>
            <a:r>
              <a:t>OrangeHRM - Time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Sinh viên: Đặng Bá Quí - 21130500\nGiảng viên: Ths. Trần Thị Thanh Nga\nTháng 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NỘI DUNG BÁO CÁO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400"/>
            </a:pPr>
            <a:r>
              <a:t>1. Thông tin dự án\n2. Phạm vi kiểm thử\n3. Phương pháp &amp; Framework\n4. Tổng quan kết quả\n5. Chi tiết kiểm thử từng module\n6. Phân tích lỗi\n7. Kết luận &amp; Khuyến nghị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THÔNG TIN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Tên dự án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OrangeHRM Testing Project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Mã dự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OHRM-TEST-2025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Mã tài liệu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OHRM-TEST-2025_GROUP-1_v1.2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Hệ thống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OrangeHRM Time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Tháng 11-12/2025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Môi trường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https://dbqui176-osondemand.orangehrm.com/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PHẠM VI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FF7B00"/>
                </a:solidFill>
              </a:defRPr>
            </a:pPr>
            <a:r>
              <a:t>CÁC MODULE ĐƯỢC KIỂM THỬ:</a:t>
            </a:r>
          </a:p>
          <a:p>
            <a:pPr lvl="1">
              <a:spcBef>
                <a:spcPts val="800"/>
              </a:spcBef>
              <a:defRPr sz="2000"/>
            </a:pPr>
            <a:r>
              <a:t>• Customer Management (Quản lý khách hàng)</a:t>
            </a:r>
          </a:p>
          <a:p>
            <a:pPr lvl="1">
              <a:spcBef>
                <a:spcPts val="800"/>
              </a:spcBef>
              <a:defRPr sz="2000"/>
            </a:pPr>
            <a:r>
              <a:t>• Project Management (Quản lý dự án)</a:t>
            </a:r>
          </a:p>
          <a:p>
            <a:pPr lvl="1">
              <a:spcBef>
                <a:spcPts val="800"/>
              </a:spcBef>
              <a:defRPr sz="2000"/>
            </a:pPr>
            <a:r>
              <a:t>• Activity Management (Quản lý hoạt động)</a:t>
            </a:r>
          </a:p>
          <a:p>
            <a:pPr lvl="1">
              <a:spcBef>
                <a:spcPts val="800"/>
              </a:spcBef>
              <a:defRPr sz="2000"/>
            </a:pPr>
            <a:r>
              <a:t>• Timesheet Management (Quản lý bảng chấm công)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PHƯƠNG PHÁP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CÁC LOẠI KIỂM THỬ:</a:t>
            </a:r>
          </a:p>
          <a:p>
            <a:pPr lvl="1">
              <a:defRPr sz="1800"/>
            </a:pPr>
            <a:r>
              <a:t>• Positive Testing (Dữ liệu hợp lệ): 13 TCs</a:t>
            </a:r>
          </a:p>
          <a:p>
            <a:pPr lvl="1">
              <a:defRPr sz="1800"/>
            </a:pPr>
            <a:r>
              <a:t>• Negative Testing (Dữ liệu không hợp lệ): 20 TCs</a:t>
            </a:r>
          </a:p>
          <a:p>
            <a:pPr lvl="1">
              <a:defRPr sz="1800"/>
            </a:pPr>
            <a:r>
              <a:t>• Boundary Testing (Kiểm thử biên): 4 TCs</a:t>
            </a:r>
          </a:p>
          <a:p>
            <a:pPr lvl="1">
              <a:defRPr sz="1800"/>
            </a:pPr>
            <a:r>
              <a:t>• Discovery Testing (Kiểm thử khám phá): 3 TCs</a:t>
            </a:r>
          </a:p>
          <a:p>
            <a:pPr lvl="1">
              <a:defRPr sz="1800"/>
            </a:pPr>
            <a:r>
              <a:t>• End-to-End Testing (Kiểm thử luồng): 2 TCs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FRAMEWORK TỰ ĐỘNG HÓA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CÔNG NGHỆ:</a:t>
            </a:r>
          </a:p>
          <a:p>
            <a:pPr>
              <a:defRPr sz="1800"/>
            </a:pPr>
            <a:r>
              <a:t>Framework: Playwright with TypeScript</a:t>
            </a:r>
          </a:p>
          <a:p>
            <a:pPr>
              <a:defRPr sz="1800"/>
            </a:pPr>
            <a:r>
              <a:t>Ngôn ngữ: TypeScript</a:t>
            </a:r>
          </a:p>
          <a:p>
            <a:pPr>
              <a:defRPr sz="1800"/>
            </a:pPr>
            <a:r>
              <a:t>Trình duyệt: Firefox (Desktop)</a:t>
            </a:r>
          </a:p>
          <a:p>
            <a:pPr>
              <a:defRPr sz="1800"/>
            </a:pPr>
            <a:r>
              <a:t>Tổ chức: Data-driven với JSON</a:t>
            </a:r>
          </a:p>
          <a:p>
            <a:pPr>
              <a:defRPr sz="1800"/>
            </a:pPr>
            <a:r>
              <a:t>Locator: Accessibility-first (getByRole, getByLabel)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ƯU ĐIỂM:</a:t>
            </a:r>
          </a:p>
          <a:p>
            <a:pPr lvl="1">
              <a:defRPr sz="1800"/>
            </a:pPr>
            <a:r>
              <a:t>• Modern, resilient locators</a:t>
            </a:r>
          </a:p>
          <a:p>
            <a:pPr lvl="1">
              <a:defRPr sz="1800"/>
            </a:pPr>
            <a:r>
              <a:t>• Type-safe code với TypeScript</a:t>
            </a:r>
          </a:p>
          <a:p>
            <a:pPr lvl="1">
              <a:defRPr sz="1800"/>
            </a:pPr>
            <a:r>
              <a:t>• Parallel execution</a:t>
            </a:r>
          </a:p>
          <a:p>
            <a:pPr lvl="1">
              <a:defRPr sz="1800"/>
            </a:pPr>
            <a:r>
              <a:t>• Rich reporting (screenshots/videos)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TỔNG QUAN KẾT QUẢ KIỂM THỬ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3930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Tổng số test case: </a:t>
            </a:r>
            <a:r>
              <a:rPr b="1">
                <a:solidFill>
                  <a:srgbClr val="FF7B00"/>
                </a:solidFill>
              </a:rPr>
              <a:t>40</a:t>
            </a:r>
          </a:p>
          <a:p>
            <a:pPr>
              <a:spcBef>
                <a:spcPts val="1200"/>
              </a:spcBef>
              <a:defRPr sz="2000"/>
            </a:pPr>
            <a:r>
              <a:t>Passed: </a:t>
            </a:r>
            <a:r>
              <a:rPr b="1">
                <a:solidFill>
                  <a:srgbClr val="FF7B00"/>
                </a:solidFill>
              </a:rPr>
              <a:t>30 (75%)</a:t>
            </a:r>
          </a:p>
          <a:p>
            <a:pPr>
              <a:spcBef>
                <a:spcPts val="1200"/>
              </a:spcBef>
              <a:defRPr sz="2000"/>
            </a:pPr>
            <a:r>
              <a:t>Failed: </a:t>
            </a:r>
            <a:r>
              <a:rPr b="1">
                <a:solidFill>
                  <a:srgbClr val="FF7B00"/>
                </a:solidFill>
              </a:rPr>
              <a:t>10 (25%)</a:t>
            </a:r>
          </a:p>
          <a:p>
            <a:pPr>
              <a:spcBef>
                <a:spcPts val="1200"/>
              </a:spcBef>
              <a:defRPr sz="2000"/>
            </a:pPr>
            <a:r>
              <a:t>Test Coverage: </a:t>
            </a:r>
            <a:r>
              <a:rPr b="1">
                <a:solidFill>
                  <a:srgbClr val="FF7B00"/>
                </a:solidFill>
              </a:rPr>
              <a:t>100%</a:t>
            </a:r>
          </a:p>
          <a:p>
            <a:pPr>
              <a:spcBef>
                <a:spcPts val="1200"/>
              </a:spcBef>
              <a:defRPr sz="2000"/>
            </a:pPr>
            <a:r>
              <a:t>Tỷ lệ thành công: </a:t>
            </a:r>
            <a:r>
              <a:rPr b="1">
                <a:solidFill>
                  <a:srgbClr val="FF7B00"/>
                </a:solidFill>
              </a:rPr>
              <a:t>75%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KẾT QUẢ THEO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Test Cases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Failed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Tỷ lệ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Projects-info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Timesheets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TỔNG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8A"/>
                </a:solidFill>
              </a:defRPr>
            </a:pPr>
            <a:r>
              <a:t>MODULE PROJECTS-INFO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PHẠM VI KIỂM THỬ (29 TCs):\n\n• Quản lý dự án (9 TCs)\n• Quản lý hoạt động (9 TCs)\n• Quản lý khách hàng (11 TCs)\n\nKẾT QUẢ:\n• Passed: 21 TCs (72%)\n• Failed: 8 TCs (28%)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3A8A"/>
                </a:solidFill>
              </a:defRPr>
            </a:pPr>
            <a:r>
              <a:t>MODULE TIMESHEETS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PHẠM VI KIỂM THỬ (11 TCs):\n\n• E2E Workflows (2 TCs)\n• Positive Tests (2 TCs)\n• Negative Tests (7 TCs)\n\nKẾT QUẢ:\n• Passed: 9 TCs (82%)\n• Failed: 2 TCs (18%)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TỔNG HỢP LỖI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8001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Projects-info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Timesheets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TỔNG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KHUYẾN NGHỊ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HÀNH ĐỘNG NGAY:</a:t>
            </a:r>
          </a:p>
          <a:p>
            <a:pPr>
              <a:defRPr sz="1800"/>
            </a:pPr>
            <a:r>
              <a:t>Sửa lỗi critical (DEF-003: Empty timesheet)</a:t>
            </a:r>
          </a:p>
          <a:p>
            <a:pPr>
              <a:defRPr sz="1800"/>
            </a:pPr>
            <a:r>
              <a:t>Implement input trimming cho text fields</a:t>
            </a:r>
          </a:p>
          <a:p>
            <a:pPr>
              <a:defRPr sz="1800"/>
            </a:pPr>
            <a:r>
              <a:t>Cải thiện duplicate detection logic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DÀI HẠN:</a:t>
            </a:r>
          </a:p>
          <a:p>
            <a:pPr lvl="1">
              <a:defRPr sz="1800"/>
            </a:pPr>
            <a:r>
              <a:t>• Thêm API testing</a:t>
            </a:r>
          </a:p>
          <a:p>
            <a:pPr lvl="1">
              <a:defRPr sz="1800"/>
            </a:pPr>
            <a:r>
              <a:t>• Visual regression testing</a:t>
            </a:r>
          </a:p>
          <a:p>
            <a:pPr lvl="1">
              <a:defRPr sz="1800"/>
            </a:pPr>
            <a:r>
              <a:t>• Performance testing</a:t>
            </a:r>
          </a:p>
          <a:p>
            <a:pPr lvl="1">
              <a:defRPr sz="1800"/>
            </a:pPr>
            <a:r>
              <a:t>• Mở rộng coverage sang modules khác</a:t>
            </a:r>
          </a:p>
          <a:p>
            <a:pPr lvl="1">
              <a:defRPr sz="1800"/>
            </a:pPr>
            <a:r>
              <a:t>• Tích hợp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3A8A"/>
                </a:solidFill>
              </a:defRPr>
            </a:pPr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2000"/>
            </a:pPr>
            <a:r>
              <a:t>• Đã kiểm thử thành công OrangeHRM Time Module\n• 40 test cases tự động hóa với tỷ lệ pass 75%\n• Phát hiện 10 lỗi (1 critical, 5 high)\n• Framework hiện đại với Playwright + TypeScript\n• Sẵn sàng production sau khi sửa lỗi\n\nKẾT QUẢ TÍCH CỰC:\n• Test coverage 100%\n• Automation rate 100%\n• Framework có thể mở rộng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CẢM ƠN!\n\nHỎI &amp; ĐÁP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7B00"/>
                </a:solidFill>
              </a:defRPr>
            </a:pPr>
            <a:r>
              <a:t>Đặng Bá Quí - 21130500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